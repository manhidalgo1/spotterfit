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MT Pro Bold" charset="1" panose="020B0802020202020204"/>
      <p:regular r:id="rId21"/>
    </p:embeddedFont>
    <p:embeddedFont>
      <p:font typeface="Arial MT Pro" charset="1" panose="020B0502020202020204"/>
      <p:regular r:id="rId23"/>
    </p:embeddedFont>
    <p:embeddedFont>
      <p:font typeface="Monami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Relationship Id="rId5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224" r="0" b="-24224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4246010"/>
            <a:ext cx="11430000" cy="167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</a:pPr>
            <a:r>
              <a:rPr lang="en-US" sz="49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</a:t>
            </a:r>
            <a:r>
              <a:rPr lang="en-US" sz="49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“SpotterFit”</a:t>
            </a:r>
          </a:p>
          <a:p>
            <a:pPr algn="l">
              <a:lnSpc>
                <a:spcPts val="626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5075002"/>
            <a:ext cx="11430000" cy="82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1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PRESENTA</a:t>
            </a:r>
            <a:r>
              <a:rPr lang="en-US" sz="1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CIÓN FINAL CAPSTONE</a:t>
            </a:r>
          </a:p>
          <a:p>
            <a:pPr algn="ctr">
              <a:lnSpc>
                <a:spcPts val="3214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8515053"/>
            <a:ext cx="18288000" cy="1771947"/>
            <a:chOff x="0" y="0"/>
            <a:chExt cx="24384000" cy="236259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2362581"/>
            </a:xfrm>
            <a:custGeom>
              <a:avLst/>
              <a:gdLst/>
              <a:ahLst/>
              <a:cxnLst/>
              <a:rect r="r" b="b" t="t" l="l"/>
              <a:pathLst>
                <a:path h="236258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2581"/>
                  </a:lnTo>
                  <a:lnTo>
                    <a:pt x="0" y="2362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t="0" r="-8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73466" y="3604106"/>
            <a:ext cx="7672736" cy="293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9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INTEGRANTES DEL </a:t>
            </a:r>
            <a:r>
              <a:rPr lang="en-US" sz="59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</a:t>
            </a:r>
          </a:p>
          <a:p>
            <a:pPr algn="l">
              <a:lnSpc>
                <a:spcPts val="748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358361" y="1904520"/>
            <a:ext cx="7053262" cy="18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Rol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 Proj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ect Manager / Scrum Master</a:t>
            </a:r>
          </a:p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Funciones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Planificar y coordinar el desarrollo del proyecto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Gestionar el backlog y la priorización de tareas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Supervisar el cumplimiento de los objetivos y plazos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Levantar y analizar requerimientos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58361" y="1533127"/>
            <a:ext cx="41534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</a:t>
            </a:r>
            <a:r>
              <a:rPr lang="en-US" sz="2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ose Quintero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0" y="1833165"/>
            <a:ext cx="1913816" cy="1913816"/>
            <a:chOff x="0" y="0"/>
            <a:chExt cx="863203" cy="8632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9524620" y="2069563"/>
            <a:ext cx="1152576" cy="1441019"/>
            <a:chOff x="0" y="0"/>
            <a:chExt cx="566937" cy="7088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6928" cy="708787"/>
            </a:xfrm>
            <a:custGeom>
              <a:avLst/>
              <a:gdLst/>
              <a:ahLst/>
              <a:cxnLst/>
              <a:rect r="r" b="b" t="t" l="l"/>
              <a:pathLst>
                <a:path h="708787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08787"/>
                  </a:lnTo>
                  <a:lnTo>
                    <a:pt x="0" y="708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511" t="0" r="-1251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0" y="4186592"/>
            <a:ext cx="1913816" cy="1913816"/>
            <a:chOff x="0" y="0"/>
            <a:chExt cx="863203" cy="8632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9524620" y="4422990"/>
            <a:ext cx="1152576" cy="1441019"/>
            <a:chOff x="0" y="0"/>
            <a:chExt cx="566937" cy="7088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6928" cy="708787"/>
            </a:xfrm>
            <a:custGeom>
              <a:avLst/>
              <a:gdLst/>
              <a:ahLst/>
              <a:cxnLst/>
              <a:rect r="r" b="b" t="t" l="l"/>
              <a:pathLst>
                <a:path h="708787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08787"/>
                  </a:lnTo>
                  <a:lnTo>
                    <a:pt x="0" y="708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511" t="0" r="-12511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358361" y="3956531"/>
            <a:ext cx="41534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Luis Gomez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58361" y="4385156"/>
            <a:ext cx="7053262" cy="153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Rol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 D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esarrollador Backend</a:t>
            </a:r>
          </a:p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Funciones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Des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arrollar la lógica del sistema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Gestionar la base de datos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Integrar APIs y servicios externos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44000" y="6350822"/>
            <a:ext cx="1913816" cy="1913816"/>
            <a:chOff x="0" y="0"/>
            <a:chExt cx="863203" cy="863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9524620" y="6587221"/>
            <a:ext cx="1152576" cy="1441019"/>
            <a:chOff x="0" y="0"/>
            <a:chExt cx="566937" cy="7088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6928" cy="708787"/>
            </a:xfrm>
            <a:custGeom>
              <a:avLst/>
              <a:gdLst/>
              <a:ahLst/>
              <a:cxnLst/>
              <a:rect r="r" b="b" t="t" l="l"/>
              <a:pathLst>
                <a:path h="708787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08787"/>
                  </a:lnTo>
                  <a:lnTo>
                    <a:pt x="0" y="708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511" t="0" r="-12511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358361" y="6197692"/>
            <a:ext cx="41534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Manu</a:t>
            </a:r>
            <a:r>
              <a:rPr lang="en-US" sz="2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el Hidalgo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58361" y="6626317"/>
            <a:ext cx="7053262" cy="153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Rol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 Desarrollador Frontend (Mobile)</a:t>
            </a:r>
          </a:p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Funciones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Desarrollar la interfaz de la aplicación móvil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Diseñar la experiencia de usuario (UI/UX)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Implementar el uso de la cámara del dispositivo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5400000">
            <a:off x="5486400" y="5126736"/>
            <a:ext cx="7315200" cy="33528"/>
          </a:xfrm>
          <a:custGeom>
            <a:avLst/>
            <a:gdLst/>
            <a:ahLst/>
            <a:cxnLst/>
            <a:rect r="r" b="b" t="t" l="l"/>
            <a:pathLst>
              <a:path h="33528" w="7315200">
                <a:moveTo>
                  <a:pt x="0" y="0"/>
                </a:moveTo>
                <a:lnTo>
                  <a:pt x="7315200" y="0"/>
                </a:lnTo>
                <a:lnTo>
                  <a:pt x="7315200" y="33528"/>
                </a:lnTo>
                <a:lnTo>
                  <a:pt x="0" y="33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551260"/>
            <a:ext cx="18288000" cy="88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3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Descripción del Proyecto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0758" y="3609223"/>
            <a:ext cx="6002226" cy="483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26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Problema o Dolor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9185" y="4712384"/>
            <a:ext cx="7985372" cy="130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9"/>
              </a:lnSpc>
            </a:pPr>
            <a:r>
              <a:rPr lang="en-US" sz="20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Much</a:t>
            </a:r>
            <a:r>
              <a:rPr lang="en-US" sz="20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as personas que inician en el fitness no cuentan con orientación adecuada para ejecutar ejercicios correctamente, lo que provoca malas posturas, bajo rendimiento y riesgo de lesiones.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46514" y="3609223"/>
            <a:ext cx="7478847" cy="483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26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Propuesta de Solución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46514" y="4520194"/>
            <a:ext cx="7985373" cy="344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9"/>
              </a:lnSpc>
            </a:pPr>
            <a:r>
              <a:rPr lang="en-US" sz="20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Desarrollar una aplicación móvil Android capaz de generar rutinas personalizadas mediante inteligencia artificial y analizar ejercicios físicos en tiempo real utilizando detección postural con MediaPipe.</a:t>
            </a:r>
          </a:p>
          <a:p>
            <a:pPr algn="just">
              <a:lnSpc>
                <a:spcPts val="3429"/>
              </a:lnSpc>
            </a:pPr>
          </a:p>
          <a:p>
            <a:pPr algn="just">
              <a:lnSpc>
                <a:spcPts val="3429"/>
              </a:lnSpc>
            </a:pPr>
            <a:r>
              <a:rPr lang="en-US" sz="20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El sistema proporciona feedback automático sobre la ejecución de los ejercicios a través de visión computacional y procesamiento on-device.</a:t>
            </a:r>
          </a:p>
          <a:p>
            <a:pPr algn="just">
              <a:lnSpc>
                <a:spcPts val="342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188073"/>
            <a:ext cx="18288000" cy="88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5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Objetivo General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2237" y="2612508"/>
            <a:ext cx="16303526" cy="104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1"/>
              </a:lnSpc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Ayud</a:t>
            </a: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ar a los usuarios a mejorar su técnica en ejercicios físicos y disminuir el riesgo de lesiones, mediante el desarrollo de una aplicación móvil basada en inteligencia artificial y análisis postural en tiempo real.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2238" y="6468964"/>
            <a:ext cx="16303526" cy="38100"/>
            <a:chOff x="0" y="0"/>
            <a:chExt cx="21738035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38082" cy="50800"/>
            </a:xfrm>
            <a:custGeom>
              <a:avLst/>
              <a:gdLst/>
              <a:ahLst/>
              <a:cxnLst/>
              <a:rect r="r" b="b" t="t" l="l"/>
              <a:pathLst>
                <a:path h="50800" w="217380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401" y="6145262"/>
            <a:ext cx="647402" cy="647403"/>
            <a:chOff x="0" y="0"/>
            <a:chExt cx="863203" cy="863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990501" y="6193631"/>
            <a:ext cx="425203" cy="54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52586B"/>
                </a:solidFill>
                <a:latin typeface="Monami"/>
                <a:ea typeface="Monami"/>
                <a:cs typeface="Monami"/>
                <a:sym typeface="Monami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8559" y="6957307"/>
            <a:ext cx="2209087" cy="165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P</a:t>
            </a: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romover el aprendizaje autónomo en ejercicios físicos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316066" y="6154974"/>
            <a:ext cx="647403" cy="647403"/>
            <a:chOff x="0" y="0"/>
            <a:chExt cx="863203" cy="8632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427166" y="6203343"/>
            <a:ext cx="425202" cy="54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52586B"/>
                </a:solidFill>
                <a:latin typeface="Monami"/>
                <a:ea typeface="Monami"/>
                <a:cs typeface="Monami"/>
                <a:sym typeface="Monami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12270" y="7019683"/>
            <a:ext cx="1854994" cy="124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Fom</a:t>
            </a: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entar posturas correctas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148935" y="6145262"/>
            <a:ext cx="647403" cy="647403"/>
            <a:chOff x="0" y="0"/>
            <a:chExt cx="863203" cy="8632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260035" y="6193631"/>
            <a:ext cx="425203" cy="54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52586B"/>
                </a:solidFill>
                <a:latin typeface="Monami"/>
                <a:ea typeface="Monami"/>
                <a:cs typeface="Monami"/>
                <a:sym typeface="Monami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45214" y="7019683"/>
            <a:ext cx="1854845" cy="124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Redu</a:t>
            </a: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cir el riesgo de lesiones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891066" y="6154974"/>
            <a:ext cx="647402" cy="647403"/>
            <a:chOff x="0" y="0"/>
            <a:chExt cx="863203" cy="8632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002166" y="6203343"/>
            <a:ext cx="425203" cy="54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52586B"/>
                </a:solidFill>
                <a:latin typeface="Monami"/>
                <a:ea typeface="Monami"/>
                <a:cs typeface="Monami"/>
                <a:sym typeface="Monami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87271" y="7019683"/>
            <a:ext cx="1854994" cy="124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Mej</a:t>
            </a: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orar el rendimiento del usuario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5340365" y="6097081"/>
            <a:ext cx="647402" cy="647403"/>
            <a:chOff x="0" y="0"/>
            <a:chExt cx="863203" cy="8632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5451465" y="6145449"/>
            <a:ext cx="425203" cy="54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52586B"/>
                </a:solidFill>
                <a:latin typeface="Monami"/>
                <a:ea typeface="Monami"/>
                <a:cs typeface="Monami"/>
                <a:sym typeface="Monami"/>
              </a:rPr>
              <a:t>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603804" y="6957307"/>
            <a:ext cx="2120526" cy="124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In</a:t>
            </a: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centivar la constancia en el entrenamiento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0" y="4059340"/>
            <a:ext cx="18288000" cy="88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5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Objetivos Específicos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5400000">
            <a:off x="5503164" y="5999297"/>
            <a:ext cx="7315200" cy="33528"/>
          </a:xfrm>
          <a:custGeom>
            <a:avLst/>
            <a:gdLst/>
            <a:ahLst/>
            <a:cxnLst/>
            <a:rect r="r" b="b" t="t" l="l"/>
            <a:pathLst>
              <a:path h="33528" w="7315200">
                <a:moveTo>
                  <a:pt x="0" y="0"/>
                </a:moveTo>
                <a:lnTo>
                  <a:pt x="7315200" y="0"/>
                </a:lnTo>
                <a:lnTo>
                  <a:pt x="7315200" y="33528"/>
                </a:lnTo>
                <a:lnTo>
                  <a:pt x="0" y="33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551260"/>
            <a:ext cx="18288000" cy="88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3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Alcances y Limitaciones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927" y="3711619"/>
            <a:ext cx="7985372" cy="3615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Aplic</a:t>
            </a: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ación móvil funcional</a:t>
            </a:r>
          </a:p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Análisis de 3 ejercicios específicos: sentadillas, plancha y curl de bíceps con mancuerna.</a:t>
            </a:r>
          </a:p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Feedback en tiempo real con puntuación (score 0-100) y correcciones textuales</a:t>
            </a:r>
          </a:p>
          <a:p>
            <a:pPr algn="just" marL="539746" indent="-269873" lvl="1">
              <a:lnSpc>
                <a:spcPts val="4083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Uso de IA para generar rutinas personalizadas (no solo para análisis de postura)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44228" y="3711619"/>
            <a:ext cx="7985373" cy="3615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Dependencia de calidad de cámara e iluminación</a:t>
            </a:r>
          </a:p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MediaPipe corre 100% on-d</a:t>
            </a: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evice, no requiere conexión a internet para análisis de postura</a:t>
            </a:r>
          </a:p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Tiempo de desarrollo real: 3 meses</a:t>
            </a:r>
          </a:p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Limit</a:t>
            </a: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ación a solo Android (iOS como mejora futura)</a:t>
            </a:r>
          </a:p>
          <a:p>
            <a:pPr algn="just" marL="539746" indent="-269873" lvl="1">
              <a:lnSpc>
                <a:spcPts val="4083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La generación de rutinas SÍ requiere conexión a internet (Claude API)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0" y="400981"/>
            <a:ext cx="18288000" cy="88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</a:t>
            </a: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etodología de Trabajo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11635"/>
            <a:ext cx="16230600" cy="645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1794" indent="-180897" lvl="1">
              <a:lnSpc>
                <a:spcPts val="3967"/>
              </a:lnSpc>
              <a:buFont typeface="Arial"/>
              <a:buChar char="•"/>
            </a:pPr>
            <a:r>
              <a:rPr lang="en-US" b="true" sz="23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Metodo</a:t>
            </a:r>
            <a:r>
              <a:rPr lang="en-US" b="true" sz="23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logía</a:t>
            </a: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 Scrum</a:t>
            </a:r>
          </a:p>
          <a:p>
            <a:pPr algn="l" marL="361794" indent="-180897" lvl="1">
              <a:lnSpc>
                <a:spcPts val="3967"/>
              </a:lnSpc>
              <a:buFont typeface="Arial"/>
              <a:buChar char="•"/>
            </a:pPr>
            <a:r>
              <a:rPr lang="en-US" b="true" sz="23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Duración de sprint: </a:t>
            </a: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2 semanas</a:t>
            </a:r>
          </a:p>
          <a:p>
            <a:pPr algn="l">
              <a:lnSpc>
                <a:spcPts val="3967"/>
              </a:lnSpc>
            </a:pPr>
          </a:p>
          <a:p>
            <a:pPr algn="l">
              <a:lnSpc>
                <a:spcPts val="3967"/>
              </a:lnSpc>
            </a:pP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El desarrollo del proyecto se organiza en base a épicas (releases) que agrupan funcionalidades principales del sistema, priorizando aquellas de mayor complejidad técnica en etapas tempranas.</a:t>
            </a:r>
          </a:p>
          <a:p>
            <a:pPr algn="l">
              <a:lnSpc>
                <a:spcPts val="3967"/>
              </a:lnSpc>
            </a:pPr>
          </a:p>
          <a:p>
            <a:pPr algn="l">
              <a:lnSpc>
                <a:spcPts val="3967"/>
              </a:lnSpc>
            </a:pPr>
          </a:p>
          <a:p>
            <a:pPr algn="l">
              <a:lnSpc>
                <a:spcPts val="3967"/>
              </a:lnSpc>
            </a:pPr>
            <a:r>
              <a:rPr lang="en-US" sz="23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Gestión del trabajo</a:t>
            </a:r>
          </a:p>
          <a:p>
            <a:pPr algn="l" marL="518155" indent="-259078" lvl="1">
              <a:lnSpc>
                <a:spcPts val="3967"/>
              </a:lnSpc>
              <a:buFont typeface="Arial"/>
              <a:buChar char="•"/>
            </a:pP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22 historias de usuario organizadas en épicas</a:t>
            </a:r>
          </a:p>
          <a:p>
            <a:pPr algn="l" marL="518155" indent="-259078" lvl="1">
              <a:lnSpc>
                <a:spcPts val="3967"/>
              </a:lnSpc>
              <a:buFont typeface="Arial"/>
              <a:buChar char="•"/>
            </a:pP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Priorización basada en complejidad técnica</a:t>
            </a:r>
          </a:p>
          <a:p>
            <a:pPr algn="l" marL="518155" indent="-259078" lvl="1">
              <a:lnSpc>
                <a:spcPts val="3967"/>
              </a:lnSpc>
              <a:buFont typeface="Arial"/>
              <a:buChar char="•"/>
            </a:pP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Desarrollo incremental por sprints</a:t>
            </a:r>
          </a:p>
          <a:p>
            <a:pPr algn="l">
              <a:lnSpc>
                <a:spcPts val="3969"/>
              </a:lnSpc>
            </a:pPr>
          </a:p>
          <a:p>
            <a:pPr algn="l">
              <a:lnSpc>
                <a:spcPts val="396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6762" y="1894084"/>
            <a:ext cx="15014476" cy="8174993"/>
          </a:xfrm>
          <a:custGeom>
            <a:avLst/>
            <a:gdLst/>
            <a:ahLst/>
            <a:cxnLst/>
            <a:rect r="r" b="b" t="t" l="l"/>
            <a:pathLst>
              <a:path h="8174993" w="15014476">
                <a:moveTo>
                  <a:pt x="0" y="0"/>
                </a:moveTo>
                <a:lnTo>
                  <a:pt x="15014476" y="0"/>
                </a:lnTo>
                <a:lnTo>
                  <a:pt x="15014476" y="8174993"/>
                </a:lnTo>
                <a:lnTo>
                  <a:pt x="0" y="81749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6" t="-15079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904875"/>
            <a:ext cx="18288000" cy="88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5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🚀Release Plan🚀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0" y="791162"/>
            <a:ext cx="18288000" cy="87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Arquitectura del software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83496" y="2521987"/>
            <a:ext cx="11521009" cy="7389528"/>
          </a:xfrm>
          <a:custGeom>
            <a:avLst/>
            <a:gdLst/>
            <a:ahLst/>
            <a:cxnLst/>
            <a:rect r="r" b="b" t="t" l="l"/>
            <a:pathLst>
              <a:path h="7389528" w="11521009">
                <a:moveTo>
                  <a:pt x="0" y="0"/>
                </a:moveTo>
                <a:lnTo>
                  <a:pt x="11521008" y="0"/>
                </a:lnTo>
                <a:lnTo>
                  <a:pt x="11521008" y="7389528"/>
                </a:lnTo>
                <a:lnTo>
                  <a:pt x="0" y="7389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0" y="791162"/>
            <a:ext cx="18288000" cy="87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Modelo de Datos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39804" y="1667627"/>
            <a:ext cx="14232290" cy="7901615"/>
          </a:xfrm>
          <a:custGeom>
            <a:avLst/>
            <a:gdLst/>
            <a:ahLst/>
            <a:cxnLst/>
            <a:rect r="r" b="b" t="t" l="l"/>
            <a:pathLst>
              <a:path h="7901615" w="14232290">
                <a:moveTo>
                  <a:pt x="0" y="0"/>
                </a:moveTo>
                <a:lnTo>
                  <a:pt x="14232290" y="0"/>
                </a:lnTo>
                <a:lnTo>
                  <a:pt x="14232290" y="7901615"/>
                </a:lnTo>
                <a:lnTo>
                  <a:pt x="0" y="79016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1083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0" y="791162"/>
            <a:ext cx="18288000" cy="87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Modelo de Datos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88694" y="1953377"/>
            <a:ext cx="13717201" cy="7901615"/>
          </a:xfrm>
          <a:custGeom>
            <a:avLst/>
            <a:gdLst/>
            <a:ahLst/>
            <a:cxnLst/>
            <a:rect r="r" b="b" t="t" l="l"/>
            <a:pathLst>
              <a:path h="7901615" w="13717201">
                <a:moveTo>
                  <a:pt x="0" y="0"/>
                </a:moveTo>
                <a:lnTo>
                  <a:pt x="13717202" y="0"/>
                </a:lnTo>
                <a:lnTo>
                  <a:pt x="13717202" y="7901615"/>
                </a:lnTo>
                <a:lnTo>
                  <a:pt x="0" y="79016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8748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0" y="791162"/>
            <a:ext cx="18288000" cy="87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Tecnologías Utilizadas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876099" y="1953377"/>
            <a:ext cx="10535801" cy="7820095"/>
          </a:xfrm>
          <a:custGeom>
            <a:avLst/>
            <a:gdLst/>
            <a:ahLst/>
            <a:cxnLst/>
            <a:rect r="r" b="b" t="t" l="l"/>
            <a:pathLst>
              <a:path h="7820095" w="10535801">
                <a:moveTo>
                  <a:pt x="0" y="0"/>
                </a:moveTo>
                <a:lnTo>
                  <a:pt x="10535802" y="0"/>
                </a:lnTo>
                <a:lnTo>
                  <a:pt x="10535802" y="7820095"/>
                </a:lnTo>
                <a:lnTo>
                  <a:pt x="0" y="78200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253061" y="4341614"/>
            <a:ext cx="9781878" cy="13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5"/>
              </a:lnSpc>
            </a:pPr>
            <a:r>
              <a:rPr lang="en-US" sz="7687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¡Gracias!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DAHFvnKmdWQ</dc:identifier>
  <dcterms:modified xsi:type="dcterms:W3CDTF">2011-08-01T06:04:30Z</dcterms:modified>
  <cp:revision>1</cp:revision>
  <dc:title>capstone</dc:title>
</cp:coreProperties>
</file>