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0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12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notesMasterIdLst>
    <p:notesMasterId r:id="rId18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Arial MT Pro Bold" charset="1" panose="020B0802020202020204"/>
      <p:regular r:id="rId21"/>
    </p:embeddedFont>
    <p:embeddedFont>
      <p:font typeface="Arial MT Pro" charset="1" panose="020B0502020202020204"/>
      <p:regular r:id="rId23"/>
    </p:embeddedFont>
    <p:embeddedFont>
      <p:font typeface="Monami" charset="1" panose="00000000000000000000"/>
      <p:regular r:id="rId2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notesMasters/notesMaster1.xml" Type="http://schemas.openxmlformats.org/officeDocument/2006/relationships/notesMaster"/><Relationship Id="rId19" Target="theme/theme2.xml" Type="http://schemas.openxmlformats.org/officeDocument/2006/relationships/theme"/><Relationship Id="rId2" Target="presProps.xml" Type="http://schemas.openxmlformats.org/officeDocument/2006/relationships/presProps"/><Relationship Id="rId20" Target="notesSlides/notesSlide1.xml" Type="http://schemas.openxmlformats.org/officeDocument/2006/relationships/notesSlide"/><Relationship Id="rId21" Target="fonts/font21.fntdata" Type="http://schemas.openxmlformats.org/officeDocument/2006/relationships/font"/><Relationship Id="rId22" Target="notesSlides/notesSlide2.xml" Type="http://schemas.openxmlformats.org/officeDocument/2006/relationships/notesSlide"/><Relationship Id="rId23" Target="fonts/font23.fntdata" Type="http://schemas.openxmlformats.org/officeDocument/2006/relationships/font"/><Relationship Id="rId24" Target="notesSlides/notesSlide3.xml" Type="http://schemas.openxmlformats.org/officeDocument/2006/relationships/notesSlide"/><Relationship Id="rId25" Target="notesSlides/notesSlide4.xml" Type="http://schemas.openxmlformats.org/officeDocument/2006/relationships/notesSlide"/><Relationship Id="rId26" Target="fonts/font26.fntdata" Type="http://schemas.openxmlformats.org/officeDocument/2006/relationships/font"/><Relationship Id="rId27" Target="notesSlides/notesSlide5.xml" Type="http://schemas.openxmlformats.org/officeDocument/2006/relationships/notesSlide"/><Relationship Id="rId28" Target="notesSlides/notesSlide6.xml" Type="http://schemas.openxmlformats.org/officeDocument/2006/relationships/notesSlide"/><Relationship Id="rId29" Target="notesSlides/notesSlide7.xml" Type="http://schemas.openxmlformats.org/officeDocument/2006/relationships/notesSlide"/><Relationship Id="rId3" Target="viewProps.xml" Type="http://schemas.openxmlformats.org/officeDocument/2006/relationships/viewProps"/><Relationship Id="rId30" Target="notesSlides/notesSlide8.xml" Type="http://schemas.openxmlformats.org/officeDocument/2006/relationships/notesSlide"/><Relationship Id="rId31" Target="notesSlides/notesSlide9.xml" Type="http://schemas.openxmlformats.org/officeDocument/2006/relationships/notesSlide"/><Relationship Id="rId32" Target="notesSlides/notesSlide10.xml" Type="http://schemas.openxmlformats.org/officeDocument/2006/relationships/notesSlide"/><Relationship Id="rId33" Target="notesSlides/notesSlide11.xml" Type="http://schemas.openxmlformats.org/officeDocument/2006/relationships/notesSlide"/><Relationship Id="rId34" Target="notesSlides/notesSlide12.xml" Type="http://schemas.openxmlformats.org/officeDocument/2006/relationships/notesSlide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notesMasters/_rels/notesMaster1.xml.rels><?xml version="1.0" encoding="UTF-8" standalone="yes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268E1E-0E44-426D-905E-8AD9B19D2182}" type="datetimeFigureOut">
              <a:rPr lang="cs-CZ" smtClean="0"/>
              <a:t>1.7.2013</a:t>
            </a:fld>
            <a:endParaRPr lang="cs-CZ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cs-CZ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cs-CZ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cs-CZ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71B2431-D351-4C6E-A3CF-9DFAC0E3E050}" type="slidenum">
              <a:rPr lang="cs-CZ" smtClean="0"/>
              <a:t>‹#›</a:t>
            </a:fld>
            <a:endParaRPr lang="cs-CZ"/>
          </a:p>
        </p:txBody>
      </p:sp>
    </p:spTree>
    <p:extLst>
      <p:ext uri="{BB962C8B-B14F-4D97-AF65-F5344CB8AC3E}">
        <p14:creationId xmlns:p14="http://schemas.microsoft.com/office/powerpoint/2010/main" val="179888911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_rels/notesSlide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2.xml" Type="http://schemas.openxmlformats.org/officeDocument/2006/relationships/slide"/></Relationships>
</file>

<file path=ppt/notesSlides/_rels/notesSlide3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3.xml" Type="http://schemas.openxmlformats.org/officeDocument/2006/relationships/slide"/></Relationships>
</file>

<file path=ppt/notesSlides/_rels/notesSlide4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4.xml" Type="http://schemas.openxmlformats.org/officeDocument/2006/relationships/slide"/></Relationships>
</file>

<file path=ppt/notesSlides/_rels/notesSlide5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5.xml" Type="http://schemas.openxmlformats.org/officeDocument/2006/relationships/slide"/></Relationships>
</file>

<file path=ppt/notesSlides/_rels/notesSlide6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6.xml" Type="http://schemas.openxmlformats.org/officeDocument/2006/relationships/slide"/></Relationships>
</file>

<file path=ppt/notesSlides/_rels/notesSlide7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7.xml" Type="http://schemas.openxmlformats.org/officeDocument/2006/relationships/slide"/></Relationships>
</file>

<file path=ppt/notesSlides/_rels/notesSlide8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8.xml" Type="http://schemas.openxmlformats.org/officeDocument/2006/relationships/slide"/></Relationships>
</file>

<file path=ppt/notesSlides/_rels/notesSlide9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9.xml" Type="http://schemas.openxmlformats.org/officeDocument/2006/relationships/slide"/></Relationships>
</file>

<file path=ppt/notesSlides/_rels/notesSlide10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0.xml" Type="http://schemas.openxmlformats.org/officeDocument/2006/relationships/slide"/></Relationships>
</file>

<file path=ppt/notesSlides/_rels/notesSlide11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1.xml" Type="http://schemas.openxmlformats.org/officeDocument/2006/relationships/slide"/></Relationships>
</file>

<file path=ppt/notesSlides/_rels/notesSlide12.xml.rels><?xml version="1.0" encoding="UTF-8" standalone="yes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2.xml" Type="http://schemas.openxmlformats.org/officeDocument/2006/relationships/slide"/></Relationships>
</file>

<file path=ppt/notesSlides/notesSlide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2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4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3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5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6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1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7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notesSlides/notesSlide12.xml><?xml version="1.0" encoding="utf-8"?>
<p:notes xmlns:p="http://schemas.openxmlformats.org/presentationml/2006/main" xmlns:a="http://schemas.openxmlformats.org/drawingml/2006/main">
  <p:cSld>
    <p:spTree xmlns:r="http://schemas.openxmlformats.org/officeDocument/2006/relationships"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/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29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r id="{B7268E1E-0E44-426D-905E-8AD9B19D2182}" type="datetimeFigureOut">
              <a:rPr lang="cs-CZ" smtClean="0"/>
              <a:t>1.7.2013</a:t>
            </a:r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857500" y="512763"/>
            <a:ext cx="3429000" cy="2566987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/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251200"/>
            <a:ext cx="7315200" cy="3081338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lang="en-US"/>
              <a:t>10</a:t>
            </a:r>
            <a:endParaRPr lang="en-US" smtClean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/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02400"/>
            <a:ext cx="3962400" cy="341313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r id="{871B2431-D351-4C6E-A3CF-9DFAC0E3E050}" type="slidenum">
              <a:rPr lang="cs-CZ" smtClean="0"/>
              <a:t>‹#›</a:t>
            </a:r>
          </a:p>
        </p:txBody>
      </p:sp>
    </p:spTree>
  </p:cSld>
  <p:clrMapOvr>
    <a:masterClrMapping/>
  </p:clrMapOvr>
</p:note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1.png" Type="http://schemas.openxmlformats.org/officeDocument/2006/relationships/image"/><Relationship Id="rId4" Target="../media/image2.png" Type="http://schemas.openxmlformats.org/officeDocument/2006/relationships/image"/><Relationship Id="rId5" Target="../media/image3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2.xml" Type="http://schemas.openxmlformats.org/officeDocument/2006/relationships/notesSlide"/><Relationship Id="rId3" Target="../media/image4.png" Type="http://schemas.openxmlformats.org/officeDocument/2006/relationships/image"/><Relationship Id="rId4" Target="../media/image5.png" Type="http://schemas.openxmlformats.org/officeDocument/2006/relationships/image"/><Relationship Id="rId5" Target="../media/image6.png" Type="http://schemas.openxmlformats.org/officeDocument/2006/relationships/image"/><Relationship Id="rId6" Target="../media/image7.png" Type="http://schemas.openxmlformats.org/officeDocument/2006/relationships/image"/><Relationship Id="rId7" Target="../media/image3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3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4.xml" Type="http://schemas.openxmlformats.org/officeDocument/2006/relationships/notesSlide"/><Relationship Id="rId3" Target="../media/image3.pn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5.xml" Type="http://schemas.openxmlformats.org/officeDocument/2006/relationships/notesSlide"/><Relationship Id="rId3" Target="../media/image1.png" Type="http://schemas.openxmlformats.org/officeDocument/2006/relationships/image"/><Relationship Id="rId4" Target="../media/image8.png" Type="http://schemas.openxmlformats.org/officeDocument/2006/relationships/image"/><Relationship Id="rId5" Target="../media/image9.svg" Type="http://schemas.openxmlformats.org/officeDocument/2006/relationships/image"/><Relationship Id="rId6" Target="../media/image3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6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7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10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8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11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9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0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12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1.xml" Type="http://schemas.openxmlformats.org/officeDocument/2006/relationships/notesSlide"/><Relationship Id="rId3" Target="../media/image1.png" Type="http://schemas.openxmlformats.org/officeDocument/2006/relationships/image"/><Relationship Id="rId4" Target="../media/image3.png" Type="http://schemas.openxmlformats.org/officeDocument/2006/relationships/image"/><Relationship Id="rId5" Target="../media/image13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notesSlides/notesSlide12.xml" Type="http://schemas.openxmlformats.org/officeDocument/2006/relationships/notesSlide"/><Relationship Id="rId3" Target="../media/image1.png" Type="http://schemas.openxmlformats.org/officeDocument/2006/relationships/image"/><Relationship Id="rId4" Target="../media/image14.png" Type="http://schemas.openxmlformats.org/officeDocument/2006/relationships/image"/><Relationship Id="rId5" Target="../media/image3.pn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11430000" y="0"/>
            <a:ext cx="6858000" cy="10287000"/>
            <a:chOff x="0" y="0"/>
            <a:chExt cx="9144000" cy="13716000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914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9144000">
                  <a:moveTo>
                    <a:pt x="0" y="0"/>
                  </a:moveTo>
                  <a:lnTo>
                    <a:pt x="9144000" y="0"/>
                  </a:lnTo>
                  <a:lnTo>
                    <a:pt x="914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-24224" r="0" b="-24224"/>
              </a:stretch>
            </a:blipFill>
          </p:spPr>
        </p:sp>
      </p:grpSp>
      <p:sp>
        <p:nvSpPr>
          <p:cNvPr name="Freeform 8" id="8"/>
          <p:cNvSpPr/>
          <p:nvPr/>
        </p:nvSpPr>
        <p:spPr>
          <a:xfrm flipH="false" flipV="false" rot="0">
            <a:off x="0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4246010"/>
            <a:ext cx="11430000" cy="1671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4"/>
              </a:lnSpc>
            </a:pPr>
            <a:r>
              <a:rPr lang="en-US" sz="4999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</a:t>
            </a:r>
            <a:r>
              <a:rPr lang="en-US" sz="4999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 “SpotterFit”</a:t>
            </a:r>
          </a:p>
          <a:p>
            <a:pPr algn="l">
              <a:lnSpc>
                <a:spcPts val="6267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5075002"/>
            <a:ext cx="11430000" cy="8205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13"/>
              </a:lnSpc>
            </a:pPr>
            <a:r>
              <a:rPr lang="en-US" sz="19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PRESENTA</a:t>
            </a:r>
            <a:r>
              <a:rPr lang="en-US" sz="19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CIÓN FINAL CAPSTONE</a:t>
            </a:r>
          </a:p>
          <a:p>
            <a:pPr algn="ctr">
              <a:lnSpc>
                <a:spcPts val="3214"/>
              </a:lnSpc>
            </a:pP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8515053"/>
            <a:ext cx="18288000" cy="1771947"/>
            <a:chOff x="0" y="0"/>
            <a:chExt cx="24384000" cy="2362597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2362581"/>
            </a:xfrm>
            <a:custGeom>
              <a:avLst/>
              <a:gdLst/>
              <a:ahLst/>
              <a:cxnLst/>
              <a:rect r="r" b="b" t="t" l="l"/>
              <a:pathLst>
                <a:path h="2362581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2362581"/>
                  </a:lnTo>
                  <a:lnTo>
                    <a:pt x="0" y="236258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-8" t="0" r="-8" b="0"/>
              </a:stretch>
            </a:blipFill>
          </p:spPr>
        </p:sp>
      </p:grpSp>
      <p:sp>
        <p:nvSpPr>
          <p:cNvPr name="TextBox 4" id="4"/>
          <p:cNvSpPr txBox="true"/>
          <p:nvPr/>
        </p:nvSpPr>
        <p:spPr>
          <a:xfrm rot="0">
            <a:off x="373466" y="3604106"/>
            <a:ext cx="7672736" cy="293591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481"/>
              </a:lnSpc>
            </a:pPr>
            <a:r>
              <a:rPr lang="en-US" sz="5999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INTEGRANTES DEL </a:t>
            </a:r>
            <a:r>
              <a:rPr lang="en-US" sz="5999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</a:t>
            </a:r>
          </a:p>
          <a:p>
            <a:pPr algn="l">
              <a:lnSpc>
                <a:spcPts val="7483"/>
              </a:lnSpc>
            </a:pPr>
          </a:p>
        </p:txBody>
      </p:sp>
      <p:sp>
        <p:nvSpPr>
          <p:cNvPr name="TextBox 5" id="5"/>
          <p:cNvSpPr txBox="true"/>
          <p:nvPr/>
        </p:nvSpPr>
        <p:spPr>
          <a:xfrm rot="0">
            <a:off x="11358361" y="1904520"/>
            <a:ext cx="7053262" cy="18424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500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Rol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: Proj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ect Manager / Scrum Master</a:t>
            </a:r>
          </a:p>
          <a:p>
            <a:pPr algn="l">
              <a:lnSpc>
                <a:spcPts val="2442"/>
              </a:lnSpc>
            </a:pPr>
            <a:r>
              <a:rPr lang="en-US" sz="1500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Funciones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: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Planificar y coordinar el desarrollo del proyecto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Gestionar el backlog y la priorización de tareas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Supervisar el cumplimiento de los objetivos y plazos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Levantar y analizar requerimientos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1358361" y="1533127"/>
            <a:ext cx="415347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9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J</a:t>
            </a:r>
            <a:r>
              <a:rPr lang="en-US" sz="29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ose Quintero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9144000" y="1833165"/>
            <a:ext cx="1913816" cy="1913816"/>
            <a:chOff x="0" y="0"/>
            <a:chExt cx="863203" cy="86320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1" id="11"/>
          <p:cNvGrpSpPr>
            <a:grpSpLocks noChangeAspect="true"/>
          </p:cNvGrpSpPr>
          <p:nvPr/>
        </p:nvGrpSpPr>
        <p:grpSpPr>
          <a:xfrm rot="0">
            <a:off x="9524620" y="2069563"/>
            <a:ext cx="1152576" cy="1441019"/>
            <a:chOff x="0" y="0"/>
            <a:chExt cx="566937" cy="708818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566928" cy="708787"/>
            </a:xfrm>
            <a:custGeom>
              <a:avLst/>
              <a:gdLst/>
              <a:ahLst/>
              <a:cxnLst/>
              <a:rect r="r" b="b" t="t" l="l"/>
              <a:pathLst>
                <a:path h="708787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708787"/>
                  </a:lnTo>
                  <a:lnTo>
                    <a:pt x="0" y="708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-12511" t="0" r="-12511" b="0"/>
              </a:stretch>
            </a:blipFill>
          </p:spPr>
        </p:sp>
      </p:grpSp>
      <p:grpSp>
        <p:nvGrpSpPr>
          <p:cNvPr name="Group 13" id="13"/>
          <p:cNvGrpSpPr/>
          <p:nvPr/>
        </p:nvGrpSpPr>
        <p:grpSpPr>
          <a:xfrm rot="0">
            <a:off x="9144000" y="4186592"/>
            <a:ext cx="1913816" cy="1913816"/>
            <a:chOff x="0" y="0"/>
            <a:chExt cx="863203" cy="863203"/>
          </a:xfrm>
        </p:grpSpPr>
        <p:sp>
          <p:nvSpPr>
            <p:cNvPr name="Freeform 14" id="14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16" id="16"/>
          <p:cNvGrpSpPr>
            <a:grpSpLocks noChangeAspect="true"/>
          </p:cNvGrpSpPr>
          <p:nvPr/>
        </p:nvGrpSpPr>
        <p:grpSpPr>
          <a:xfrm rot="0">
            <a:off x="9524620" y="4422990"/>
            <a:ext cx="1152576" cy="1441019"/>
            <a:chOff x="0" y="0"/>
            <a:chExt cx="566937" cy="708818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0" y="0"/>
              <a:ext cx="566928" cy="708787"/>
            </a:xfrm>
            <a:custGeom>
              <a:avLst/>
              <a:gdLst/>
              <a:ahLst/>
              <a:cxnLst/>
              <a:rect r="r" b="b" t="t" l="l"/>
              <a:pathLst>
                <a:path h="708787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708787"/>
                  </a:lnTo>
                  <a:lnTo>
                    <a:pt x="0" y="708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 l="-12511" t="0" r="-12511" b="0"/>
              </a:stretch>
            </a:blipFill>
          </p:spPr>
        </p:sp>
      </p:grpSp>
      <p:sp>
        <p:nvSpPr>
          <p:cNvPr name="TextBox 18" id="18"/>
          <p:cNvSpPr txBox="true"/>
          <p:nvPr/>
        </p:nvSpPr>
        <p:spPr>
          <a:xfrm rot="0">
            <a:off x="11358361" y="3956531"/>
            <a:ext cx="415347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9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Luis Gomez </a:t>
            </a:r>
          </a:p>
        </p:txBody>
      </p:sp>
      <p:sp>
        <p:nvSpPr>
          <p:cNvPr name="TextBox 19" id="19"/>
          <p:cNvSpPr txBox="true"/>
          <p:nvPr/>
        </p:nvSpPr>
        <p:spPr>
          <a:xfrm rot="0">
            <a:off x="11358361" y="4385156"/>
            <a:ext cx="7053262" cy="153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500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Rol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: D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esarrollador Backend</a:t>
            </a:r>
          </a:p>
          <a:p>
            <a:pPr algn="l">
              <a:lnSpc>
                <a:spcPts val="2442"/>
              </a:lnSpc>
            </a:pPr>
            <a:r>
              <a:rPr lang="en-US" sz="1500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Funciones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: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Des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arrollar la lógica del sistema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Gestionar la base de datos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Integrar APIs y servicios externos</a:t>
            </a:r>
          </a:p>
        </p:txBody>
      </p:sp>
      <p:grpSp>
        <p:nvGrpSpPr>
          <p:cNvPr name="Group 20" id="20"/>
          <p:cNvGrpSpPr/>
          <p:nvPr/>
        </p:nvGrpSpPr>
        <p:grpSpPr>
          <a:xfrm rot="0">
            <a:off x="9144000" y="6350822"/>
            <a:ext cx="1913816" cy="1913816"/>
            <a:chOff x="0" y="0"/>
            <a:chExt cx="863203" cy="863203"/>
          </a:xfrm>
        </p:grpSpPr>
        <p:sp>
          <p:nvSpPr>
            <p:cNvPr name="Freeform 21" id="21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22" id="22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23" id="23"/>
          <p:cNvGrpSpPr>
            <a:grpSpLocks noChangeAspect="true"/>
          </p:cNvGrpSpPr>
          <p:nvPr/>
        </p:nvGrpSpPr>
        <p:grpSpPr>
          <a:xfrm rot="0">
            <a:off x="9524620" y="6587221"/>
            <a:ext cx="1152576" cy="1441019"/>
            <a:chOff x="0" y="0"/>
            <a:chExt cx="566937" cy="708818"/>
          </a:xfrm>
        </p:grpSpPr>
        <p:sp>
          <p:nvSpPr>
            <p:cNvPr name="Freeform 24" id="24"/>
            <p:cNvSpPr/>
            <p:nvPr/>
          </p:nvSpPr>
          <p:spPr>
            <a:xfrm flipH="false" flipV="false" rot="0">
              <a:off x="0" y="0"/>
              <a:ext cx="566928" cy="708787"/>
            </a:xfrm>
            <a:custGeom>
              <a:avLst/>
              <a:gdLst/>
              <a:ahLst/>
              <a:cxnLst/>
              <a:rect r="r" b="b" t="t" l="l"/>
              <a:pathLst>
                <a:path h="708787" w="566928">
                  <a:moveTo>
                    <a:pt x="0" y="0"/>
                  </a:moveTo>
                  <a:lnTo>
                    <a:pt x="566928" y="0"/>
                  </a:lnTo>
                  <a:lnTo>
                    <a:pt x="566928" y="708787"/>
                  </a:lnTo>
                  <a:lnTo>
                    <a:pt x="0" y="708787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/>
              <a:stretch>
                <a:fillRect l="-12511" t="0" r="-12511" b="0"/>
              </a:stretch>
            </a:blipFill>
          </p:spPr>
        </p:sp>
      </p:grpSp>
      <p:sp>
        <p:nvSpPr>
          <p:cNvPr name="TextBox 25" id="25"/>
          <p:cNvSpPr txBox="true"/>
          <p:nvPr/>
        </p:nvSpPr>
        <p:spPr>
          <a:xfrm rot="0">
            <a:off x="11358361" y="6197692"/>
            <a:ext cx="4153471" cy="5238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749"/>
              </a:lnSpc>
            </a:pPr>
            <a:r>
              <a:rPr lang="en-US" sz="29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Manu</a:t>
            </a:r>
            <a:r>
              <a:rPr lang="en-US" sz="29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el Hidalgo</a:t>
            </a:r>
          </a:p>
        </p:txBody>
      </p:sp>
      <p:sp>
        <p:nvSpPr>
          <p:cNvPr name="TextBox 26" id="26"/>
          <p:cNvSpPr txBox="true"/>
          <p:nvPr/>
        </p:nvSpPr>
        <p:spPr>
          <a:xfrm rot="0">
            <a:off x="11358361" y="6626317"/>
            <a:ext cx="7053262" cy="15376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442"/>
              </a:lnSpc>
            </a:pPr>
            <a:r>
              <a:rPr lang="en-US" sz="1500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Rol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: Desarrollador Frontend (Mobile)</a:t>
            </a:r>
          </a:p>
          <a:p>
            <a:pPr algn="l">
              <a:lnSpc>
                <a:spcPts val="2442"/>
              </a:lnSpc>
            </a:pPr>
            <a:r>
              <a:rPr lang="en-US" sz="1500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Funciones</a:t>
            </a: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: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Desarrollar la interfaz de la aplicación móvil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Diseñar la experiencia de usuario (UI/UX)</a:t>
            </a:r>
          </a:p>
          <a:p>
            <a:pPr algn="l" marL="323855" indent="-161927" lvl="1">
              <a:lnSpc>
                <a:spcPts val="2442"/>
              </a:lnSpc>
              <a:buFont typeface="Arial"/>
              <a:buChar char="•"/>
            </a:pPr>
            <a:r>
              <a:rPr lang="en-US" sz="1500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Implementar el uso de la cámara del dispositivo</a:t>
            </a:r>
          </a:p>
        </p:txBody>
      </p:sp>
      <p:sp>
        <p:nvSpPr>
          <p:cNvPr name="Freeform 27" id="27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5400000">
            <a:off x="5486400" y="5126736"/>
            <a:ext cx="7315200" cy="33528"/>
          </a:xfrm>
          <a:custGeom>
            <a:avLst/>
            <a:gdLst/>
            <a:ahLst/>
            <a:cxnLst/>
            <a:rect r="r" b="b" t="t" l="l"/>
            <a:pathLst>
              <a:path h="33528" w="7315200">
                <a:moveTo>
                  <a:pt x="0" y="0"/>
                </a:moveTo>
                <a:lnTo>
                  <a:pt x="7315200" y="0"/>
                </a:lnTo>
                <a:lnTo>
                  <a:pt x="7315200" y="33528"/>
                </a:lnTo>
                <a:lnTo>
                  <a:pt x="0" y="33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551260"/>
            <a:ext cx="18288000" cy="88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3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Descripción del Proyecto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850758" y="3609223"/>
            <a:ext cx="6002226" cy="483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0"/>
              </a:lnSpc>
            </a:pPr>
            <a:r>
              <a:rPr lang="en-US" sz="2699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Problema o Dolor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859185" y="4712384"/>
            <a:ext cx="7985372" cy="13036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9"/>
              </a:lnSpc>
            </a:pPr>
            <a:r>
              <a:rPr lang="en-US" sz="20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Much</a:t>
            </a:r>
            <a:r>
              <a:rPr lang="en-US" sz="20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as personas que inician en el fitness no cuentan con orientación adecuada para ejecutar ejercicios correctamente, lo que provoca malas posturas, bajo rendimiento y riesgo de lesiones.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9446514" y="3609223"/>
            <a:ext cx="7478847" cy="483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10"/>
              </a:lnSpc>
            </a:pPr>
            <a:r>
              <a:rPr lang="en-US" sz="2699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Propuesta de Solución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9446514" y="4520194"/>
            <a:ext cx="7985373" cy="344686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29"/>
              </a:lnSpc>
            </a:pPr>
            <a:r>
              <a:rPr lang="en-US" sz="20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Desarrollar una aplicación móvil Android capaz de generar rutinas personalizadas mediante inteligencia artificial y analizar ejercicios físicos en tiempo real utilizando detección postural con MediaPipe.</a:t>
            </a:r>
          </a:p>
          <a:p>
            <a:pPr algn="just">
              <a:lnSpc>
                <a:spcPts val="3429"/>
              </a:lnSpc>
            </a:pPr>
          </a:p>
          <a:p>
            <a:pPr algn="just">
              <a:lnSpc>
                <a:spcPts val="3429"/>
              </a:lnSpc>
            </a:pPr>
            <a:r>
              <a:rPr lang="en-US" sz="20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El sistema proporciona feedback automático sobre la ejecución de los ejercicios a través de visión computacional y procesamiento on-device.</a:t>
            </a:r>
          </a:p>
          <a:p>
            <a:pPr algn="just">
              <a:lnSpc>
                <a:spcPts val="342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  <p:sp>
        <p:nvSpPr>
          <p:cNvPr name="Freeform 13" id="13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0" y="1188073"/>
            <a:ext cx="18288000" cy="884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5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Objetivo General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992237" y="2612508"/>
            <a:ext cx="16303526" cy="10450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071"/>
              </a:lnSpc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D</a:t>
            </a: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esarrollar una aplicación móvil que permita mejorar la ejecución de ejercicios físicos mediante inteligencia artificial, entregando retroalimentación.</a:t>
            </a:r>
          </a:p>
        </p:txBody>
      </p:sp>
      <p:grpSp>
        <p:nvGrpSpPr>
          <p:cNvPr name="Group 4" id="4"/>
          <p:cNvGrpSpPr/>
          <p:nvPr/>
        </p:nvGrpSpPr>
        <p:grpSpPr>
          <a:xfrm rot="0">
            <a:off x="992238" y="6468964"/>
            <a:ext cx="16303526" cy="38100"/>
            <a:chOff x="0" y="0"/>
            <a:chExt cx="21738035" cy="508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1738082" cy="50800"/>
            </a:xfrm>
            <a:custGeom>
              <a:avLst/>
              <a:gdLst/>
              <a:ahLst/>
              <a:cxnLst/>
              <a:rect r="r" b="b" t="t" l="l"/>
              <a:pathLst>
                <a:path h="50800" w="21738082">
                  <a:moveTo>
                    <a:pt x="0" y="25400"/>
                  </a:moveTo>
                  <a:cubicBezTo>
                    <a:pt x="0" y="11430"/>
                    <a:pt x="11430" y="0"/>
                    <a:pt x="25400" y="0"/>
                  </a:cubicBezTo>
                  <a:lnTo>
                    <a:pt x="21712682" y="0"/>
                  </a:lnTo>
                  <a:cubicBezTo>
                    <a:pt x="21726652" y="0"/>
                    <a:pt x="21738082" y="11430"/>
                    <a:pt x="21738082" y="25400"/>
                  </a:cubicBezTo>
                  <a:cubicBezTo>
                    <a:pt x="21738082" y="39370"/>
                    <a:pt x="21726652" y="50800"/>
                    <a:pt x="21712682" y="50800"/>
                  </a:cubicBezTo>
                  <a:lnTo>
                    <a:pt x="25400" y="50800"/>
                  </a:lnTo>
                  <a:cubicBezTo>
                    <a:pt x="11430" y="50800"/>
                    <a:pt x="0" y="39370"/>
                    <a:pt x="0" y="254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grpSp>
        <p:nvGrpSpPr>
          <p:cNvPr name="Group 6" id="6"/>
          <p:cNvGrpSpPr/>
          <p:nvPr/>
        </p:nvGrpSpPr>
        <p:grpSpPr>
          <a:xfrm rot="0">
            <a:off x="1879401" y="6145262"/>
            <a:ext cx="647402" cy="647403"/>
            <a:chOff x="0" y="0"/>
            <a:chExt cx="863203" cy="86320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9" id="9"/>
          <p:cNvSpPr txBox="true"/>
          <p:nvPr/>
        </p:nvSpPr>
        <p:spPr>
          <a:xfrm rot="0">
            <a:off x="1990501" y="6193631"/>
            <a:ext cx="425203" cy="54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52586B"/>
                </a:solidFill>
                <a:latin typeface="Monami"/>
                <a:ea typeface="Monami"/>
                <a:cs typeface="Monami"/>
                <a:sym typeface="Monami"/>
              </a:rPr>
              <a:t>1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8559" y="6957307"/>
            <a:ext cx="2209087" cy="16561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P</a:t>
            </a: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romover el aprendizaje autónomo en ejercicios físicos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5316066" y="6154974"/>
            <a:ext cx="647403" cy="647403"/>
            <a:chOff x="0" y="0"/>
            <a:chExt cx="863203" cy="86320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3" id="13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14" id="14"/>
          <p:cNvSpPr txBox="true"/>
          <p:nvPr/>
        </p:nvSpPr>
        <p:spPr>
          <a:xfrm rot="0">
            <a:off x="5427166" y="6203343"/>
            <a:ext cx="425202" cy="54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52586B"/>
                </a:solidFill>
                <a:latin typeface="Monami"/>
                <a:ea typeface="Monami"/>
                <a:cs typeface="Monami"/>
                <a:sym typeface="Monami"/>
              </a:rPr>
              <a:t>2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4712270" y="7019683"/>
            <a:ext cx="1854994" cy="124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Fom</a:t>
            </a: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entar posturas correctas</a:t>
            </a:r>
          </a:p>
        </p:txBody>
      </p:sp>
      <p:grpSp>
        <p:nvGrpSpPr>
          <p:cNvPr name="Group 16" id="16"/>
          <p:cNvGrpSpPr/>
          <p:nvPr/>
        </p:nvGrpSpPr>
        <p:grpSpPr>
          <a:xfrm rot="0">
            <a:off x="8148935" y="6145262"/>
            <a:ext cx="647403" cy="647403"/>
            <a:chOff x="0" y="0"/>
            <a:chExt cx="863203" cy="863203"/>
          </a:xfrm>
        </p:grpSpPr>
        <p:sp>
          <p:nvSpPr>
            <p:cNvPr name="Freeform 17" id="17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19" id="19"/>
          <p:cNvSpPr txBox="true"/>
          <p:nvPr/>
        </p:nvSpPr>
        <p:spPr>
          <a:xfrm rot="0">
            <a:off x="8260035" y="6193631"/>
            <a:ext cx="425203" cy="54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52586B"/>
                </a:solidFill>
                <a:latin typeface="Monami"/>
                <a:ea typeface="Monami"/>
                <a:cs typeface="Monami"/>
                <a:sym typeface="Monami"/>
              </a:rPr>
              <a:t>3</a:t>
            </a:r>
          </a:p>
        </p:txBody>
      </p:sp>
      <p:sp>
        <p:nvSpPr>
          <p:cNvPr name="TextBox 20" id="20"/>
          <p:cNvSpPr txBox="true"/>
          <p:nvPr/>
        </p:nvSpPr>
        <p:spPr>
          <a:xfrm rot="0">
            <a:off x="7545214" y="7019683"/>
            <a:ext cx="1854845" cy="124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Redu</a:t>
            </a: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cir el riesgo de lesiones</a:t>
            </a:r>
          </a:p>
        </p:txBody>
      </p:sp>
      <p:grpSp>
        <p:nvGrpSpPr>
          <p:cNvPr name="Group 21" id="21"/>
          <p:cNvGrpSpPr/>
          <p:nvPr/>
        </p:nvGrpSpPr>
        <p:grpSpPr>
          <a:xfrm rot="0">
            <a:off x="11891066" y="6154974"/>
            <a:ext cx="647402" cy="647403"/>
            <a:chOff x="0" y="0"/>
            <a:chExt cx="863203" cy="863203"/>
          </a:xfrm>
        </p:grpSpPr>
        <p:sp>
          <p:nvSpPr>
            <p:cNvPr name="Freeform 22" id="22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23" id="23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24" id="24"/>
          <p:cNvSpPr txBox="true"/>
          <p:nvPr/>
        </p:nvSpPr>
        <p:spPr>
          <a:xfrm rot="0">
            <a:off x="12002166" y="6203343"/>
            <a:ext cx="425203" cy="54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52586B"/>
                </a:solidFill>
                <a:latin typeface="Monami"/>
                <a:ea typeface="Monami"/>
                <a:cs typeface="Monami"/>
                <a:sym typeface="Monami"/>
              </a:rPr>
              <a:t>4</a:t>
            </a:r>
          </a:p>
        </p:txBody>
      </p:sp>
      <p:sp>
        <p:nvSpPr>
          <p:cNvPr name="TextBox 25" id="25"/>
          <p:cNvSpPr txBox="true"/>
          <p:nvPr/>
        </p:nvSpPr>
        <p:spPr>
          <a:xfrm rot="0">
            <a:off x="11287271" y="7019683"/>
            <a:ext cx="1854994" cy="124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Mej</a:t>
            </a: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orar el rendimiento del usuario</a:t>
            </a:r>
          </a:p>
        </p:txBody>
      </p:sp>
      <p:grpSp>
        <p:nvGrpSpPr>
          <p:cNvPr name="Group 26" id="26"/>
          <p:cNvGrpSpPr/>
          <p:nvPr/>
        </p:nvGrpSpPr>
        <p:grpSpPr>
          <a:xfrm rot="0">
            <a:off x="15340365" y="6097081"/>
            <a:ext cx="647402" cy="647403"/>
            <a:chOff x="0" y="0"/>
            <a:chExt cx="863203" cy="863203"/>
          </a:xfrm>
        </p:grpSpPr>
        <p:sp>
          <p:nvSpPr>
            <p:cNvPr name="Freeform 27" id="27"/>
            <p:cNvSpPr/>
            <p:nvPr/>
          </p:nvSpPr>
          <p:spPr>
            <a:xfrm flipH="false" flipV="false" rot="0">
              <a:off x="6350" y="6350"/>
              <a:ext cx="850519" cy="850519"/>
            </a:xfrm>
            <a:custGeom>
              <a:avLst/>
              <a:gdLst/>
              <a:ahLst/>
              <a:cxnLst/>
              <a:rect r="r" b="b" t="t" l="l"/>
              <a:pathLst>
                <a:path h="850519" w="850519">
                  <a:moveTo>
                    <a:pt x="0" y="158750"/>
                  </a:moveTo>
                  <a:cubicBezTo>
                    <a:pt x="0" y="71120"/>
                    <a:pt x="71120" y="0"/>
                    <a:pt x="158750" y="0"/>
                  </a:cubicBezTo>
                  <a:lnTo>
                    <a:pt x="691769" y="0"/>
                  </a:lnTo>
                  <a:cubicBezTo>
                    <a:pt x="779399" y="0"/>
                    <a:pt x="850519" y="71120"/>
                    <a:pt x="850519" y="158750"/>
                  </a:cubicBezTo>
                  <a:lnTo>
                    <a:pt x="850519" y="691769"/>
                  </a:lnTo>
                  <a:cubicBezTo>
                    <a:pt x="850519" y="779399"/>
                    <a:pt x="779399" y="850519"/>
                    <a:pt x="691769" y="850519"/>
                  </a:cubicBezTo>
                  <a:lnTo>
                    <a:pt x="158750" y="850519"/>
                  </a:lnTo>
                  <a:cubicBezTo>
                    <a:pt x="71120" y="850519"/>
                    <a:pt x="0" y="779399"/>
                    <a:pt x="0" y="691769"/>
                  </a:cubicBezTo>
                  <a:close/>
                </a:path>
              </a:pathLst>
            </a:custGeom>
            <a:solidFill>
              <a:srgbClr val="E2E4E9"/>
            </a:solidFill>
          </p:spPr>
        </p:sp>
        <p:sp>
          <p:nvSpPr>
            <p:cNvPr name="Freeform 28" id="28"/>
            <p:cNvSpPr/>
            <p:nvPr/>
          </p:nvSpPr>
          <p:spPr>
            <a:xfrm flipH="false" flipV="false" rot="0">
              <a:off x="0" y="0"/>
              <a:ext cx="863219" cy="863219"/>
            </a:xfrm>
            <a:custGeom>
              <a:avLst/>
              <a:gdLst/>
              <a:ahLst/>
              <a:cxnLst/>
              <a:rect r="r" b="b" t="t" l="l"/>
              <a:pathLst>
                <a:path h="863219" w="863219">
                  <a:moveTo>
                    <a:pt x="0" y="165100"/>
                  </a:moveTo>
                  <a:cubicBezTo>
                    <a:pt x="0" y="73914"/>
                    <a:pt x="73914" y="0"/>
                    <a:pt x="165100" y="0"/>
                  </a:cubicBez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lnTo>
                    <a:pt x="698119" y="6350"/>
                  </a:lnTo>
                  <a:lnTo>
                    <a:pt x="698119" y="0"/>
                  </a:lnTo>
                  <a:cubicBezTo>
                    <a:pt x="789305" y="0"/>
                    <a:pt x="863219" y="73914"/>
                    <a:pt x="863219" y="165100"/>
                  </a:cubicBezTo>
                  <a:lnTo>
                    <a:pt x="856869" y="165100"/>
                  </a:lnTo>
                  <a:lnTo>
                    <a:pt x="863219" y="165100"/>
                  </a:lnTo>
                  <a:lnTo>
                    <a:pt x="863219" y="698119"/>
                  </a:lnTo>
                  <a:lnTo>
                    <a:pt x="856869" y="698119"/>
                  </a:lnTo>
                  <a:lnTo>
                    <a:pt x="863219" y="698119"/>
                  </a:lnTo>
                  <a:cubicBezTo>
                    <a:pt x="863219" y="789305"/>
                    <a:pt x="789305" y="863219"/>
                    <a:pt x="698119" y="863219"/>
                  </a:cubicBezTo>
                  <a:lnTo>
                    <a:pt x="698119" y="856869"/>
                  </a:lnTo>
                  <a:lnTo>
                    <a:pt x="698119" y="863219"/>
                  </a:lnTo>
                  <a:lnTo>
                    <a:pt x="165100" y="863219"/>
                  </a:lnTo>
                  <a:lnTo>
                    <a:pt x="165100" y="856869"/>
                  </a:lnTo>
                  <a:lnTo>
                    <a:pt x="165100" y="863219"/>
                  </a:lnTo>
                  <a:cubicBezTo>
                    <a:pt x="73914" y="863219"/>
                    <a:pt x="0" y="789305"/>
                    <a:pt x="0" y="698119"/>
                  </a:cubicBezTo>
                  <a:lnTo>
                    <a:pt x="0" y="165100"/>
                  </a:lnTo>
                  <a:lnTo>
                    <a:pt x="6350" y="165100"/>
                  </a:lnTo>
                  <a:lnTo>
                    <a:pt x="0" y="165100"/>
                  </a:lnTo>
                  <a:moveTo>
                    <a:pt x="12700" y="165100"/>
                  </a:moveTo>
                  <a:lnTo>
                    <a:pt x="12700" y="698119"/>
                  </a:lnTo>
                  <a:lnTo>
                    <a:pt x="6350" y="698119"/>
                  </a:lnTo>
                  <a:lnTo>
                    <a:pt x="12700" y="698119"/>
                  </a:lnTo>
                  <a:cubicBezTo>
                    <a:pt x="12700" y="782320"/>
                    <a:pt x="80899" y="850519"/>
                    <a:pt x="165100" y="850519"/>
                  </a:cubicBezTo>
                  <a:lnTo>
                    <a:pt x="698119" y="850519"/>
                  </a:lnTo>
                  <a:cubicBezTo>
                    <a:pt x="782320" y="850519"/>
                    <a:pt x="850519" y="782320"/>
                    <a:pt x="850519" y="698119"/>
                  </a:cubicBezTo>
                  <a:lnTo>
                    <a:pt x="850519" y="165100"/>
                  </a:lnTo>
                  <a:cubicBezTo>
                    <a:pt x="850519" y="80899"/>
                    <a:pt x="782320" y="12700"/>
                    <a:pt x="698119" y="12700"/>
                  </a:cubicBezTo>
                  <a:lnTo>
                    <a:pt x="165100" y="12700"/>
                  </a:lnTo>
                  <a:lnTo>
                    <a:pt x="165100" y="6350"/>
                  </a:lnTo>
                  <a:lnTo>
                    <a:pt x="165100" y="12700"/>
                  </a:lnTo>
                  <a:cubicBezTo>
                    <a:pt x="80899" y="12700"/>
                    <a:pt x="12700" y="80899"/>
                    <a:pt x="12700" y="165100"/>
                  </a:cubicBezTo>
                  <a:close/>
                </a:path>
              </a:pathLst>
            </a:custGeom>
            <a:solidFill>
              <a:srgbClr val="C8CACF"/>
            </a:solidFill>
          </p:spPr>
        </p:sp>
      </p:grpSp>
      <p:sp>
        <p:nvSpPr>
          <p:cNvPr name="TextBox 29" id="29"/>
          <p:cNvSpPr txBox="true"/>
          <p:nvPr/>
        </p:nvSpPr>
        <p:spPr>
          <a:xfrm rot="0">
            <a:off x="15451465" y="6145449"/>
            <a:ext cx="425203" cy="54113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312"/>
              </a:lnSpc>
            </a:pPr>
            <a:r>
              <a:rPr lang="en-US" sz="3312">
                <a:solidFill>
                  <a:srgbClr val="52586B"/>
                </a:solidFill>
                <a:latin typeface="Monami"/>
                <a:ea typeface="Monami"/>
                <a:cs typeface="Monami"/>
                <a:sym typeface="Monami"/>
              </a:rPr>
              <a:t>5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4603804" y="6957307"/>
            <a:ext cx="2120526" cy="12465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294"/>
              </a:lnSpc>
            </a:pP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In</a:t>
            </a:r>
            <a:r>
              <a:rPr lang="en-US" sz="204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centivar la constancia en el entrenamiento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0" y="4059340"/>
            <a:ext cx="18288000" cy="884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5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Objetivos Específicos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  <p:sp>
        <p:nvSpPr>
          <p:cNvPr name="Freeform 33" id="33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5400000">
            <a:off x="5503164" y="5999297"/>
            <a:ext cx="7315200" cy="33528"/>
          </a:xfrm>
          <a:custGeom>
            <a:avLst/>
            <a:gdLst/>
            <a:ahLst/>
            <a:cxnLst/>
            <a:rect r="r" b="b" t="t" l="l"/>
            <a:pathLst>
              <a:path h="33528" w="7315200">
                <a:moveTo>
                  <a:pt x="0" y="0"/>
                </a:moveTo>
                <a:lnTo>
                  <a:pt x="7315200" y="0"/>
                </a:lnTo>
                <a:lnTo>
                  <a:pt x="7315200" y="33528"/>
                </a:lnTo>
                <a:lnTo>
                  <a:pt x="0" y="3352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0" y="551260"/>
            <a:ext cx="18288000" cy="88471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3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Alcances y Limitaciones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891927" y="3711619"/>
            <a:ext cx="7985372" cy="3615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4082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Aplic</a:t>
            </a: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ación móvil funcional</a:t>
            </a:r>
          </a:p>
          <a:p>
            <a:pPr algn="just" marL="539746" indent="-269873" lvl="1">
              <a:lnSpc>
                <a:spcPts val="4082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Análisis de 3 ejercicios específicos: sentadillas, plancha y curl de bíceps con mancuerna.</a:t>
            </a:r>
          </a:p>
          <a:p>
            <a:pPr algn="just" marL="539746" indent="-269873" lvl="1">
              <a:lnSpc>
                <a:spcPts val="4082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Feedback en tiempo real con puntuación (score 0-100) y correcciones textuales</a:t>
            </a:r>
          </a:p>
          <a:p>
            <a:pPr algn="just" marL="539746" indent="-269873" lvl="1">
              <a:lnSpc>
                <a:spcPts val="4083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Uso de IA para generar rutinas personalizadas (no solo para análisis de postura)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9444228" y="3711619"/>
            <a:ext cx="7985373" cy="361532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539746" indent="-269873" lvl="1">
              <a:lnSpc>
                <a:spcPts val="4082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Dependencia de calidad de cámara e iluminación</a:t>
            </a:r>
          </a:p>
          <a:p>
            <a:pPr algn="just" marL="539746" indent="-269873" lvl="1">
              <a:lnSpc>
                <a:spcPts val="4082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MediaPipe corre 100% on-d</a:t>
            </a: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evice, no requiere conexión a internet para análisis de postura</a:t>
            </a:r>
          </a:p>
          <a:p>
            <a:pPr algn="just" marL="539746" indent="-269873" lvl="1">
              <a:lnSpc>
                <a:spcPts val="4082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Tiempo de desarrollo real: 3 meses</a:t>
            </a:r>
          </a:p>
          <a:p>
            <a:pPr algn="just" marL="539746" indent="-269873" lvl="1">
              <a:lnSpc>
                <a:spcPts val="4082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Limit</a:t>
            </a: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ación a solo Android (iOS como mejora futura)</a:t>
            </a:r>
          </a:p>
          <a:p>
            <a:pPr algn="just" marL="539746" indent="-269873" lvl="1">
              <a:lnSpc>
                <a:spcPts val="4083"/>
              </a:lnSpc>
              <a:buFont typeface="Arial"/>
              <a:buChar char="•"/>
            </a:pPr>
            <a:r>
              <a:rPr lang="en-US" sz="24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La generación de rutinas SÍ requiere conexión a internet (Claude API)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0" y="400981"/>
            <a:ext cx="18288000" cy="88028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68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</a:t>
            </a: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etodología de Trabajo 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28700" y="1811635"/>
            <a:ext cx="16230600" cy="645322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361794" indent="-180897" lvl="1">
              <a:lnSpc>
                <a:spcPts val="3967"/>
              </a:lnSpc>
              <a:buFont typeface="Arial"/>
              <a:buChar char="•"/>
            </a:pPr>
            <a:r>
              <a:rPr lang="en-US" b="true" sz="23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Metodo</a:t>
            </a:r>
            <a:r>
              <a:rPr lang="en-US" b="true" sz="23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logía</a:t>
            </a:r>
            <a:r>
              <a:rPr lang="en-US" sz="23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: Scrum</a:t>
            </a:r>
          </a:p>
          <a:p>
            <a:pPr algn="l" marL="361794" indent="-180897" lvl="1">
              <a:lnSpc>
                <a:spcPts val="3967"/>
              </a:lnSpc>
              <a:buFont typeface="Arial"/>
              <a:buChar char="•"/>
            </a:pPr>
            <a:r>
              <a:rPr lang="en-US" b="true" sz="23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Duración de sprint: </a:t>
            </a:r>
            <a:r>
              <a:rPr lang="en-US" sz="23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2 semanas</a:t>
            </a:r>
          </a:p>
          <a:p>
            <a:pPr algn="l">
              <a:lnSpc>
                <a:spcPts val="3967"/>
              </a:lnSpc>
            </a:pPr>
          </a:p>
          <a:p>
            <a:pPr algn="l">
              <a:lnSpc>
                <a:spcPts val="3967"/>
              </a:lnSpc>
            </a:pPr>
            <a:r>
              <a:rPr lang="en-US" sz="23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El desarrollo del proyecto se organiza en base a épicas (releases) que agrupan funcionalidades principales del sistema, priorizando aquellas de mayor complejidad técnica en etapas tempranas.</a:t>
            </a:r>
          </a:p>
          <a:p>
            <a:pPr algn="l">
              <a:lnSpc>
                <a:spcPts val="3967"/>
              </a:lnSpc>
            </a:pPr>
          </a:p>
          <a:p>
            <a:pPr algn="l">
              <a:lnSpc>
                <a:spcPts val="3967"/>
              </a:lnSpc>
            </a:pPr>
          </a:p>
          <a:p>
            <a:pPr algn="l">
              <a:lnSpc>
                <a:spcPts val="3967"/>
              </a:lnSpc>
            </a:pPr>
            <a:r>
              <a:rPr lang="en-US" sz="2399" b="true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Gestión del trabajo</a:t>
            </a:r>
          </a:p>
          <a:p>
            <a:pPr algn="l" marL="518155" indent="-259078" lvl="1">
              <a:lnSpc>
                <a:spcPts val="3967"/>
              </a:lnSpc>
              <a:buFont typeface="Arial"/>
              <a:buChar char="•"/>
            </a:pPr>
            <a:r>
              <a:rPr lang="en-US" sz="23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22 historias de usuario organizadas en épicas</a:t>
            </a:r>
          </a:p>
          <a:p>
            <a:pPr algn="l" marL="518155" indent="-259078" lvl="1">
              <a:lnSpc>
                <a:spcPts val="3967"/>
              </a:lnSpc>
              <a:buFont typeface="Arial"/>
              <a:buChar char="•"/>
            </a:pPr>
            <a:r>
              <a:rPr lang="en-US" sz="23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Priorización basada en complejidad técnica</a:t>
            </a:r>
          </a:p>
          <a:p>
            <a:pPr algn="l" marL="518155" indent="-259078" lvl="1">
              <a:lnSpc>
                <a:spcPts val="3967"/>
              </a:lnSpc>
              <a:buFont typeface="Arial"/>
              <a:buChar char="•"/>
            </a:pPr>
            <a:r>
              <a:rPr lang="en-US" sz="2399">
                <a:solidFill>
                  <a:srgbClr val="52586B"/>
                </a:solidFill>
                <a:latin typeface="Arial MT Pro"/>
                <a:ea typeface="Arial MT Pro"/>
                <a:cs typeface="Arial MT Pro"/>
                <a:sym typeface="Arial MT Pro"/>
              </a:rPr>
              <a:t>Desarrollo incremental por sprints</a:t>
            </a:r>
          </a:p>
          <a:p>
            <a:pPr algn="l">
              <a:lnSpc>
                <a:spcPts val="3969"/>
              </a:lnSpc>
            </a:pPr>
          </a:p>
          <a:p>
            <a:pPr algn="l">
              <a:lnSpc>
                <a:spcPts val="3967"/>
              </a:lnSpc>
            </a:pPr>
          </a:p>
        </p:txBody>
      </p:sp>
      <p:sp>
        <p:nvSpPr>
          <p:cNvPr name="TextBox 8" id="8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  <p:sp>
        <p:nvSpPr>
          <p:cNvPr name="Freeform 9" id="9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Freeform 6" id="6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636762" y="1894084"/>
            <a:ext cx="15014476" cy="8174993"/>
          </a:xfrm>
          <a:custGeom>
            <a:avLst/>
            <a:gdLst/>
            <a:ahLst/>
            <a:cxnLst/>
            <a:rect r="r" b="b" t="t" l="l"/>
            <a:pathLst>
              <a:path h="8174993" w="15014476">
                <a:moveTo>
                  <a:pt x="0" y="0"/>
                </a:moveTo>
                <a:lnTo>
                  <a:pt x="15014476" y="0"/>
                </a:lnTo>
                <a:lnTo>
                  <a:pt x="15014476" y="8174993"/>
                </a:lnTo>
                <a:lnTo>
                  <a:pt x="0" y="8174993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76" t="-15079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0" y="904875"/>
            <a:ext cx="18288000" cy="88443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35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🚀Release Plan🚀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0" y="791162"/>
            <a:ext cx="18288000" cy="87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Arquitectura del software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383496" y="2521987"/>
            <a:ext cx="11521009" cy="7389528"/>
          </a:xfrm>
          <a:custGeom>
            <a:avLst/>
            <a:gdLst/>
            <a:ahLst/>
            <a:cxnLst/>
            <a:rect r="r" b="b" t="t" l="l"/>
            <a:pathLst>
              <a:path h="7389528" w="11521009">
                <a:moveTo>
                  <a:pt x="0" y="0"/>
                </a:moveTo>
                <a:lnTo>
                  <a:pt x="11521008" y="0"/>
                </a:lnTo>
                <a:lnTo>
                  <a:pt x="11521008" y="7389528"/>
                </a:lnTo>
                <a:lnTo>
                  <a:pt x="0" y="738952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0" y="791162"/>
            <a:ext cx="18288000" cy="87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Modelo de Datos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439804" y="1667627"/>
            <a:ext cx="14232290" cy="7901615"/>
          </a:xfrm>
          <a:custGeom>
            <a:avLst/>
            <a:gdLst/>
            <a:ahLst/>
            <a:cxnLst/>
            <a:rect r="r" b="b" t="t" l="l"/>
            <a:pathLst>
              <a:path h="7901615" w="14232290">
                <a:moveTo>
                  <a:pt x="0" y="0"/>
                </a:moveTo>
                <a:lnTo>
                  <a:pt x="14232290" y="0"/>
                </a:lnTo>
                <a:lnTo>
                  <a:pt x="14232290" y="7901615"/>
                </a:lnTo>
                <a:lnTo>
                  <a:pt x="0" y="79016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-110831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0" y="791162"/>
            <a:ext cx="18288000" cy="87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Modelo de Datos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2688694" y="1953377"/>
            <a:ext cx="13717201" cy="7901615"/>
          </a:xfrm>
          <a:custGeom>
            <a:avLst/>
            <a:gdLst/>
            <a:ahLst/>
            <a:cxnLst/>
            <a:rect r="r" b="b" t="t" l="l"/>
            <a:pathLst>
              <a:path h="7901615" w="13717201">
                <a:moveTo>
                  <a:pt x="0" y="0"/>
                </a:moveTo>
                <a:lnTo>
                  <a:pt x="13717202" y="0"/>
                </a:lnTo>
                <a:lnTo>
                  <a:pt x="13717202" y="7901615"/>
                </a:lnTo>
                <a:lnTo>
                  <a:pt x="0" y="790161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-118748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sp>
        <p:nvSpPr>
          <p:cNvPr name="TextBox 6" id="6"/>
          <p:cNvSpPr txBox="true"/>
          <p:nvPr/>
        </p:nvSpPr>
        <p:spPr>
          <a:xfrm rot="0">
            <a:off x="0" y="791162"/>
            <a:ext cx="18288000" cy="87646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6298"/>
              </a:lnSpc>
            </a:pPr>
            <a:r>
              <a:rPr lang="en-US" sz="5000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Tecnologías Utilizadas</a:t>
            </a:r>
          </a:p>
        </p:txBody>
      </p:sp>
      <p:sp>
        <p:nvSpPr>
          <p:cNvPr name="Freeform 7" id="7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3876099" y="1953377"/>
            <a:ext cx="10535801" cy="7820095"/>
          </a:xfrm>
          <a:custGeom>
            <a:avLst/>
            <a:gdLst/>
            <a:ahLst/>
            <a:cxnLst/>
            <a:rect r="r" b="b" t="t" l="l"/>
            <a:pathLst>
              <a:path h="7820095" w="10535801">
                <a:moveTo>
                  <a:pt x="0" y="0"/>
                </a:moveTo>
                <a:lnTo>
                  <a:pt x="10535802" y="0"/>
                </a:lnTo>
                <a:lnTo>
                  <a:pt x="10535802" y="7820095"/>
                </a:lnTo>
                <a:lnTo>
                  <a:pt x="0" y="7820095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3" id="3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3"/>
              <a:stretch>
                <a:fillRect l="0" t="0" r="0" b="0"/>
              </a:stretch>
            </a:blipFill>
          </p:spPr>
        </p:sp>
      </p:grpSp>
      <p:grpSp>
        <p:nvGrpSpPr>
          <p:cNvPr name="Group 4" id="4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90196"/>
              </a:srgbClr>
            </a:solidFill>
          </p:spPr>
        </p:sp>
      </p:grpSp>
      <p:grpSp>
        <p:nvGrpSpPr>
          <p:cNvPr name="Group 6" id="6"/>
          <p:cNvGrpSpPr>
            <a:grpSpLocks noChangeAspect="true"/>
          </p:cNvGrpSpPr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7" id="7" descr="preencoded.png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 l="0" t="0" r="0" b="0"/>
              </a:stretch>
            </a:blipFill>
          </p:spPr>
        </p:sp>
      </p:grpSp>
      <p:grpSp>
        <p:nvGrpSpPr>
          <p:cNvPr name="Group 8" id="8"/>
          <p:cNvGrpSpPr/>
          <p:nvPr/>
        </p:nvGrpSpPr>
        <p:grpSpPr>
          <a:xfrm rot="0">
            <a:off x="0" y="0"/>
            <a:ext cx="18288000" cy="10287000"/>
            <a:chOff x="0" y="0"/>
            <a:chExt cx="24384000" cy="1371600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24384000" cy="13716000"/>
            </a:xfrm>
            <a:custGeom>
              <a:avLst/>
              <a:gdLst/>
              <a:ahLst/>
              <a:cxnLst/>
              <a:rect r="r" b="b" t="t" l="l"/>
              <a:pathLst>
                <a:path h="13716000" w="24384000">
                  <a:moveTo>
                    <a:pt x="0" y="0"/>
                  </a:moveTo>
                  <a:lnTo>
                    <a:pt x="24384000" y="0"/>
                  </a:lnTo>
                  <a:lnTo>
                    <a:pt x="24384000" y="13716000"/>
                  </a:lnTo>
                  <a:lnTo>
                    <a:pt x="0" y="13716000"/>
                  </a:lnTo>
                  <a:close/>
                </a:path>
              </a:pathLst>
            </a:custGeom>
            <a:solidFill>
              <a:srgbClr val="FFFFFF">
                <a:alpha val="72157"/>
              </a:srgbClr>
            </a:solidFill>
          </p:spPr>
        </p:sp>
      </p:grpSp>
      <p:sp>
        <p:nvSpPr>
          <p:cNvPr name="TextBox 10" id="10"/>
          <p:cNvSpPr txBox="true"/>
          <p:nvPr/>
        </p:nvSpPr>
        <p:spPr>
          <a:xfrm rot="0">
            <a:off x="4253061" y="4341614"/>
            <a:ext cx="9781878" cy="135890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625"/>
              </a:lnSpc>
            </a:pPr>
            <a:r>
              <a:rPr lang="en-US" sz="7687" b="true">
                <a:solidFill>
                  <a:srgbClr val="373B48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¡Gracias!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0" y="102546"/>
            <a:ext cx="6076321" cy="52916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083"/>
              </a:lnSpc>
              <a:spcBef>
                <a:spcPct val="0"/>
              </a:spcBef>
            </a:pPr>
            <a:r>
              <a:rPr lang="en-US" b="true" sz="2499">
                <a:solidFill>
                  <a:srgbClr val="52586B"/>
                </a:solidFill>
                <a:latin typeface="Arial MT Pro Bold"/>
                <a:ea typeface="Arial MT Pro Bold"/>
                <a:cs typeface="Arial MT Pro Bold"/>
                <a:sym typeface="Arial MT Pro Bold"/>
              </a:rPr>
              <a:t>Proyecto “SpotterFit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4523791" y="0"/>
            <a:ext cx="3764209" cy="926348"/>
          </a:xfrm>
          <a:custGeom>
            <a:avLst/>
            <a:gdLst/>
            <a:ahLst/>
            <a:cxnLst/>
            <a:rect r="r" b="b" t="t" l="l"/>
            <a:pathLst>
              <a:path h="926348" w="3764209">
                <a:moveTo>
                  <a:pt x="0" y="0"/>
                </a:moveTo>
                <a:lnTo>
                  <a:pt x="3764209" y="0"/>
                </a:lnTo>
                <a:lnTo>
                  <a:pt x="3764209" y="926348"/>
                </a:lnTo>
                <a:lnTo>
                  <a:pt x="0" y="92634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DAHFvnKmdWQ</dc:identifier>
  <dcterms:modified xsi:type="dcterms:W3CDTF">2011-08-01T06:04:30Z</dcterms:modified>
  <cp:revision>1</cp:revision>
  <dc:title>capstone</dc:title>
</cp:coreProperties>
</file>